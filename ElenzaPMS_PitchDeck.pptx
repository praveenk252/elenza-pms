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114800"/>
          </a:xfrm>
          <a:prstGeom prst="roundRect">
            <a:avLst>
              <a:gd name="adj" fmla="val 2000"/>
            </a:avLst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ELENZAINIDA.COM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Production Management</a:t>
            </a:r>
            <a:br/>
            <a: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BEAFE"/>
                </a:solidFill>
              </a:defRPr>
            </a:pPr>
            <a:r>
              <a:t>Modular Interiors B2B Operations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2103120" cy="36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BEAFE"/>
                </a:solidFill>
              </a:defRPr>
            </a:pPr>
            <a:r>
              <a:t>Operations Overview  |  Pitch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What We Will Cover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371600"/>
            <a:ext cx="502920" cy="50292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The Problem — Why Factories Struggle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1874520"/>
            <a:ext cx="502920" cy="50292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Our Solution — Elenza PMS Overview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377440"/>
            <a:ext cx="502920" cy="50292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23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Core Modules Deep Dive (13 Modules)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2880360"/>
            <a:ext cx="502920" cy="50292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Production Flow &amp; Machine Tracking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383280"/>
            <a:ext cx="502920" cy="50292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29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Planner, Reports &amp; Audit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886200"/>
            <a:ext cx="502920" cy="50292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31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Technology &amp; Architecture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389120"/>
            <a:ext cx="502920" cy="50292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34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Value Proposition &amp; ROI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4892040"/>
            <a:ext cx="502920" cy="50292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37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Implementation &amp; Training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394960"/>
            <a:ext cx="502920" cy="50292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40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Future Roadmap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5897880"/>
            <a:ext cx="502920" cy="50292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943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Q&amp;A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Elenza PMS?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Built for Modular Interior Manufacturing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624993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30633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87833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Purpose-Built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87833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Designed specifically</a:t>
            </a:r>
            <a:br/>
            <a:r>
              <a:t>for modular interior</a:t>
            </a:r>
            <a:br/>
            <a:r>
              <a:t>B2B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Data-Entry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8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Fast forms, searchable</a:t>
            </a:r>
            <a:br/>
            <a:r>
              <a:t>dropdowns, minimal</a:t>
            </a:r>
            <a:br/>
            <a:r>
              <a:t>manual typing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47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41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4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Role-Based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Every user sees only</a:t>
            </a:r>
            <a:br/>
            <a:r>
              <a:t>what they need —</a:t>
            </a:r>
            <a:br/>
            <a:r>
              <a:t>nothing more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27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Every action tracked.</a:t>
            </a:r>
            <a:br/>
            <a:r>
              <a:t>Full order lifecycle</a:t>
            </a:r>
            <a:br/>
            <a:r>
              <a:t>visibility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19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13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Configurable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6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Admin manages machines,</a:t>
            </a:r>
            <a:br/>
            <a:r>
              <a:t>sequences, masters —</a:t>
            </a:r>
            <a:br/>
            <a:r>
              <a:t>no developer needed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5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99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42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Zero Dashboard Clutter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42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Factory-floor focused.</a:t>
            </a:r>
            <a:br/>
            <a:r>
              <a:t>Tables, not charts.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Current Manufacturing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What Factory Owners Face Every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624993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30633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87833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Lost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87833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No single system to track</a:t>
            </a:r>
            <a:br/>
            <a:r>
              <a:t>where each order is right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Manual Chaos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8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Paper registers, WhatsApp</a:t>
            </a:r>
            <a:br/>
            <a:r>
              <a:t>messages, phone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47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41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4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No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Cannot trace who changed</a:t>
            </a:r>
            <a:br/>
            <a:r>
              <a:t>what and when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27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Permission Leaks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Everyone sees everything</a:t>
            </a:r>
            <a:br/>
            <a:r>
              <a:t>or nothing — no middle ground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19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13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No Rejection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6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Rejected parts vanish</a:t>
            </a:r>
            <a:br/>
            <a:r>
              <a:t>without traceability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5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99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42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Dispatch 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42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Packing done but dispatch</a:t>
            </a:r>
            <a:br/>
            <a:r>
              <a:t>status unknown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Order Lifecycle — Without a PMS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Fragmented, Untraceable, Error-Prone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-807873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Enquiry</a:t>
            </a:r>
            <a:br/>
            <a:r>
              <a:t>Received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694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495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Quotation</a:t>
            </a:r>
            <a:br/>
            <a:r>
              <a:t>Sent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268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069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Order</a:t>
            </a:r>
            <a:br/>
            <a:r>
              <a:t>Confirmed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842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643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Materials</a:t>
            </a:r>
            <a:br/>
            <a:r>
              <a:t>Ordered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416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17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Production</a:t>
            </a:r>
            <a:br/>
            <a:r>
              <a:t>Start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990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791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??? Where</a:t>
            </a:r>
            <a:br/>
            <a:r>
              <a:t>is it?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10564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365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Dispatch</a:t>
            </a:r>
            <a:br/>
            <a: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At every stage: uncertainty, phone calls, manual checks, lost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Impact of Not Having a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475488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6BD2"/>
                </a:solidFill>
              </a:defRPr>
            </a:pPr>
            <a:r>
              <a:t>Operational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Orders get lost between departments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Production bottlenecks go unnoticed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Rejections require phone follow-ups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Dispatch delays cause customer complaints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No visibility into machine workload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Partial completions are hard to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6BD2"/>
                </a:solidFill>
              </a:defRPr>
            </a:pPr>
            <a:r>
              <a:t>Business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Missed delivery deadlines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Customer trust erosion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Revenue leakage from lost orders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Exvertime due to rework without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Management flying blind on status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No data for business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a Modular Interior Factory Actually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Simple, Fast, Reliable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624993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30633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87833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Fast Data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87833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Quick quotation &amp; order capture</a:t>
            </a:r>
            <a:br/>
            <a:r>
              <a:t>with searchable dropdowns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Order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8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Know exactly where every</a:t>
            </a:r>
            <a:br/>
            <a:r>
              <a:t>order is at any moment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47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41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4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Machine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Each machine station has its</a:t>
            </a:r>
            <a:br/>
            <a:r>
              <a:t>own queue and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27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Production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Planner sees all active orders,</a:t>
            </a:r>
            <a:br/>
            <a:r>
              <a:t>priorities, and stages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19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13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6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Search, filter, export to Excel</a:t>
            </a:r>
            <a:br/>
            <a:r>
              <a:t>— all without dashboards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5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99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42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42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Every change logged with</a:t>
            </a:r>
            <a:br/>
            <a:r>
              <a:t>user, timestamp, and remarks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Existing Solutions Fall Short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475488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6BD2"/>
                </a:solidFill>
              </a:defRPr>
            </a:pPr>
            <a:r>
              <a:t>Generic ERP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Too complex for factory floor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Expensive licensing &amp; maintenance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Requires dedicated IT team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Dashboard-heavy, data-entry-light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Not designed for production flow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Overkill for modular interiors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6BD2"/>
                </a:solidFill>
              </a:defRPr>
            </a:pPr>
            <a:r>
              <a:t>Custom SaaS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Monthly recurring costs add up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Data locked in vendor servers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Internet dependency in factories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Features you don't use, missing ones you need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Vendor support may be slow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Cannot customize for local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32720" cy="4389120"/>
          </a:xfrm>
          <a:prstGeom prst="roundRect">
            <a:avLst>
              <a:gd name="adj" fmla="val 2000"/>
            </a:avLst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BEAFE"/>
                </a:solidFill>
              </a:defRPr>
            </a:pPr>
            <a:r>
              <a:t>INTRODUCING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Elenza 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BEAFE"/>
                </a:solidFill>
              </a:defRPr>
            </a:pPr>
            <a:r>
              <a:t>Production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840480"/>
            <a:ext cx="2651760" cy="36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BEAFE"/>
                </a:solidFill>
              </a:defRPr>
            </a:pPr>
            <a:r>
              <a:t>A minimal, data-entry-first system built</a:t>
            </a:r>
            <a:br/>
            <a:r>
              <a:t>specifically for modular interior B2B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One System  |  Every Order  |  Every Machine  |  Every Stage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Our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One Simple System for Factory &amp; Office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46BD2"/>
                </a:solidFill>
              </a:defRPr>
            </a:pPr>
            <a:r>
              <a:t>Minimize</a:t>
            </a:r>
            <a:br/>
            <a:r>
              <a:t>Manual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Searchable dropdowns</a:t>
            </a:r>
            <a:br/>
            <a:r>
              <a:t>reduce typing by 60%+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00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46BD2"/>
                </a:solidFill>
              </a:defRPr>
            </a:pPr>
            <a:r>
              <a:t>Track Every</a:t>
            </a:r>
            <a:br/>
            <a:r>
              <a:t>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One current stage</a:t>
            </a:r>
            <a:br/>
            <a:r>
              <a:t>visible at all times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716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00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46BD2"/>
                </a:solidFill>
              </a:defRPr>
            </a:pPr>
            <a:r>
              <a:t>Enforce</a:t>
            </a:r>
            <a:br/>
            <a:r>
              <a:t>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Role-based access</a:t>
            </a:r>
            <a:br/>
            <a:r>
              <a:t>every endpoint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46BD2"/>
                </a:solidFill>
              </a:defRPr>
            </a:pPr>
            <a:r>
              <a:t>Predictable</a:t>
            </a:r>
            <a:br/>
            <a:r>
              <a:t>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Work moves cleanly</a:t>
            </a:r>
            <a:br/>
            <a:r>
              <a:t>between machines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7490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977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46BD2"/>
                </a:solidFill>
              </a:defRPr>
            </a:pPr>
            <a:r>
              <a:t>Full Audit</a:t>
            </a:r>
            <a:br/>
            <a:r>
              <a:t>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Every action logged</a:t>
            </a:r>
            <a:br/>
            <a:r>
              <a:t>with user &amp;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74904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977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46BD2"/>
                </a:solidFill>
              </a:defRPr>
            </a:pPr>
            <a:r>
              <a:t>Exportable</a:t>
            </a:r>
            <a:br/>
            <a:r>
              <a:t>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Search, filter, sort</a:t>
            </a:r>
            <a:br/>
            <a:r>
              <a:t>Excel-ready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What Sets Elenza PMS Apart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✔  Factory-floor-first UI — not a dashboard analytics tool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✔  Machine-wise production tracking with station-level login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✔  Partial completion visible at both current and next station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✔  Rejection moves work backward with mandatory reason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✔  Packing and Dispatch as dedicated operational portals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✔  Planner workspace with priority, machine grouping, and Excel export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✔  Configurable production sequence — admin manages without developer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✔  Every master (customer type, order type, machines) admin-editable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✔  Role + station authorization enforced server-side on every action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✔  Lightweight stack — HTML/CSS/JS, C# ASP.NET, Microsoft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Core Modules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13 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Complete Operational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8686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Login &amp; User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86868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Dealer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474720" cy="8686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Quotation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474720" cy="86868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Order Confirmation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3474720" cy="8686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Optimisation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468880"/>
            <a:ext cx="3474720" cy="86868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Procurement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3474720" cy="8686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Production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566160"/>
            <a:ext cx="3474720" cy="86868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Packing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566160"/>
            <a:ext cx="3474720" cy="8686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Dispatch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3474720" cy="86868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Production Planner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663440"/>
            <a:ext cx="3474720" cy="8686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Reports &amp;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663440"/>
            <a:ext cx="3474720" cy="86868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Master Settings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3474720" cy="8686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▣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Interconnection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How Data Flows Between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-1836573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Dealer</a:t>
            </a:r>
            <a:br/>
            <a:r>
              <a:t>Entry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-259233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08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Quotation</a:t>
            </a:r>
            <a:br/>
            <a:r>
              <a:t>Entry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981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782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Order</a:t>
            </a:r>
            <a:br/>
            <a:r>
              <a:t>Confirm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555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56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Optimise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29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30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Procure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703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504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Produce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0277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078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Pack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20851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5652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</a:defRPr>
            </a:pPr>
            <a:r>
              <a:t>Each module feeds the next. Orders move forward on completion.</a:t>
            </a:r>
            <a:br/>
            <a:r>
              <a:t>Rejection at any stage sends work backward with mandatory reason.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01 — Login &amp; 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Every User Has a Purpose-Built Landing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495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Enter</a:t>
            </a:r>
            <a:br/>
            <a:r>
              <a:t>Username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268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69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Enter</a:t>
            </a:r>
            <a:br/>
            <a:r>
              <a:t>Password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842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43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System</a:t>
            </a:r>
            <a:br/>
            <a:r>
              <a:t>Identifies</a:t>
            </a:r>
            <a:br/>
            <a:r>
              <a:t>Role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416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217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Routes to</a:t>
            </a:r>
            <a:br/>
            <a:r>
              <a:t>Correct</a:t>
            </a:r>
            <a:br/>
            <a:r>
              <a:t>Section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990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791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Session</a:t>
            </a:r>
            <a:br/>
            <a:r>
              <a:t>Tracks</a:t>
            </a:r>
            <a:br/>
            <a:r>
              <a:t>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User Roles &amp; Permissions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447" y="137160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6858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Access Level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Capabilities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Admin / Super User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Full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Manage all masters, users, sequences, data, reports, audit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Data 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Add dealers, quotations, confirmations, optimisation, 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Quotation User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Entry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Create and manage quotations and dealer interactions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Marketing 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Scoped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View quotation and dealer activity for their 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Optimisation User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Entry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Record board optimisation and raw material details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Procurement 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Manage POs, vendor selection, material receipt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Production Planner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Planner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View all active orders, assign priority, machine grouping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Machine 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See only assigned station orders, update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Packing User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Station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Record packed boxes, balance, complete to dispatch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Dispatch 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Manage dispatch readiness, transport, completion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Management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Read-Only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View reports, order status, lifecycle — no edits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Server-Side Enforcement on Every Endpoint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463040" cy="10972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1463040" cy="914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</a:defRPr>
            </a:pPr>
            <a:r>
              <a:t>Everything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1408" y="1828800"/>
            <a:ext cx="1463040" cy="109728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Data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3108960"/>
            <a:ext cx="1463040" cy="914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</a:defRPr>
            </a:pPr>
            <a:r>
              <a:t>Dealers, Quotes,</a:t>
            </a:r>
            <a:br/>
            <a:r>
              <a:t>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5616" y="1828800"/>
            <a:ext cx="14630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Machine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5616" y="3108960"/>
            <a:ext cx="1463040" cy="914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</a:defRPr>
            </a:pPr>
            <a:r>
              <a:t>Assigned</a:t>
            </a:r>
            <a:br/>
            <a:r>
              <a:t>Station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9824" y="1828800"/>
            <a:ext cx="1463040" cy="10972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Packing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9824" y="3108960"/>
            <a:ext cx="1463040" cy="914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</a:defRPr>
            </a:pPr>
            <a:r>
              <a:t>Packing</a:t>
            </a:r>
            <a:br/>
            <a:r>
              <a:t>Portal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4032" y="1828800"/>
            <a:ext cx="1463040" cy="109728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Dispatch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4032" y="3108960"/>
            <a:ext cx="1463040" cy="914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</a:defRPr>
            </a:pPr>
            <a:r>
              <a:t>Dispatch</a:t>
            </a:r>
            <a:br/>
            <a:r>
              <a:t>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828800"/>
            <a:ext cx="14630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108960"/>
            <a:ext cx="1463040" cy="914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</a:defRPr>
            </a:pPr>
            <a:r>
              <a:t>Reports</a:t>
            </a:r>
            <a:br/>
            <a:r>
              <a:t>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42448" y="1828800"/>
            <a:ext cx="1463040" cy="10972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Planner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2448" y="3108960"/>
            <a:ext cx="1463040" cy="914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</a:defRPr>
            </a:pPr>
            <a:r>
              <a:t>Planning</a:t>
            </a:r>
            <a:br/>
            <a:r>
              <a:t>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⚠  Machine users see ONLY their assigned station orders</a:t>
            </a:r>
            <a:br/>
            <a:r>
              <a:t>     Admin has full override for corrections and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02 — Dealer Data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Complete Dealer Profile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Dealer ID (auto-generated)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Dealer Name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Contact Person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Mobile Number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WhatsApp Number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Email Address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Company Name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City &amp; Area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GST Number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Full Address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Dealer Type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Active / Inactive Status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Remarks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Dealer name is searchable in quotation entry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Dropdown auto-suggests as you type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Duplicate mobile or GST triggers warning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Admin can edit and manage all dealer details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Inactive dealers hidden from new entries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Dealer customer type can be changed by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Dealer Customer Type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Admin Tool — No Database Script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495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Admin</a:t>
            </a:r>
            <a:br/>
            <a:r>
              <a:t>Selects</a:t>
            </a:r>
            <a:br/>
            <a:r>
              <a:t>Dealer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268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69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Chooses</a:t>
            </a:r>
            <a:br/>
            <a:r>
              <a:t>New Customer</a:t>
            </a:r>
            <a:br/>
            <a:r>
              <a:t>Type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842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43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System</a:t>
            </a:r>
            <a:br/>
            <a:r>
              <a:t>Validates</a:t>
            </a:r>
            <a:br/>
            <a:r>
              <a:t>Against Master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416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217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Updates</a:t>
            </a:r>
            <a:br/>
            <a:r>
              <a:t>Dealer &amp;</a:t>
            </a:r>
            <a:br/>
            <a:r>
              <a:t>Linked Orders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990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791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Audit</a:t>
            </a:r>
            <a:br/>
            <a:r>
              <a:t>Log</a:t>
            </a:r>
            <a:br/>
            <a:r>
              <a:t>Recorded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✔  Admin selects dealer from searchable dropdown</a:t>
            </a:r>
            <a:br/>
            <a:r>
              <a:t>✔  Customer type values come from Customer Type Master</a:t>
            </a:r>
            <a:br/>
            <a:r>
              <a:t>✔  Both dealer record and all linked orders are updated</a:t>
            </a:r>
            <a:br/>
            <a:r>
              <a:t>✔  Full audit trail captured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03 — Quotation Data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Capture Enquiry &amp; Quotation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Quotation Number (auto-generated)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Quotation Date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Dealer Name (dropdown)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Customer Name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Customer Type (from master)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Order Type (from master)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Main Order &amp; Sub Order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Order Number (unique)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Site / Project Name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Location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Approximate Value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Expected Confirmation Date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Remarks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Order number must be unique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All dropdowns support type-and-search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Customer type comes from Customer Type Master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Main order and sub order are identifiable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Created by and timestamp auto-captured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Quotation register available for review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Delete action available with confirmation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Quotation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Searchable, Filterable Order Listing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2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Real-time search across</a:t>
            </a:r>
            <a:br/>
            <a:r>
              <a:t>all quotation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8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By date range, dealer,</a:t>
            </a:r>
            <a:br/>
            <a:r>
              <a:t>customer type, order 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84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7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Click any column header</a:t>
            </a:r>
            <a:br/>
            <a:r>
              <a:t>to sort ascending/descending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0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Download filtered results</a:t>
            </a:r>
            <a:br/>
            <a:r>
              <a:t>to Excel-compatible 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2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56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Delete / More action with</a:t>
            </a:r>
            <a:br/>
            <a:r>
              <a:t>confirmation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04 — Order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Mark Quotation as Confirmed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495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Select</a:t>
            </a:r>
            <a:br/>
            <a:r>
              <a:t>Unconfirmed</a:t>
            </a:r>
            <a:br/>
            <a:r>
              <a:t>Order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268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69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Set</a:t>
            </a:r>
            <a:br/>
            <a:r>
              <a:t>Confirmation</a:t>
            </a:r>
            <a:br/>
            <a:r>
              <a:t>Date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842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43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Record</a:t>
            </a:r>
            <a:br/>
            <a:r>
              <a:t>Confirmed</a:t>
            </a:r>
            <a:br/>
            <a:r>
              <a:t>By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416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217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Add</a:t>
            </a:r>
            <a:br/>
            <a:r>
              <a:t>Remarks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990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791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Status</a:t>
            </a:r>
            <a:br/>
            <a:r>
              <a:t>Changes to</a:t>
            </a:r>
            <a:br/>
            <a:r>
              <a:t>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</a:defRPr>
            </a:pPr>
            <a:r>
              <a:t>✔  Dropdown shows only not-yet-confirmed orders</a:t>
            </a:r>
            <a:br/>
            <a:r>
              <a:t>✔  Once confirmed, order becomes eligible for Optimisation</a:t>
            </a:r>
            <a:br/>
            <a:r>
              <a:t>✔  Confirmation date and user are auto-recorded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Order Confirmation — Rules &amp; Behaviour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✔  Order dropdown filters: status = Created (not yet confirmed)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✔  Confirmation date is mandatory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✔  Confirmed by field auto-populates from session user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✔  Remarks field available for any notes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✔  Once confirmed: order enters production planning pipeline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✔  Order is no longer available in confirmation dropdown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✔  Optimisation module can now pick this order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✔  Audit log records the confirmation event with 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05 —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Board Optimisation &amp; Raw Material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Order Number (dropdown — confirmed, not optimised)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Optimisation Date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Number of Boards (numeric)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RM (Raw Material) Details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Optimisation Done By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Remarks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✔  Order dropdown shows only confirmed but not optimised orders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✔  Board count must be numeric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✔  After optimisation: order enters procurement pipeline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✔  Order no longer appears in optimisation dropdown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✔  Audit trail captures optimisation event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✔  Board quantity feeds into planner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Optimisation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Connecting Planning to Procurement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10312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Board</a:t>
            </a:r>
            <a:br/>
            <a:r>
              <a:t>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Exact number of boards</a:t>
            </a:r>
            <a:br/>
            <a:r>
              <a:t>needed for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210312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RM</a:t>
            </a:r>
            <a:br/>
            <a:r>
              <a:t>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0175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Raw material specifications</a:t>
            </a:r>
            <a:br/>
            <a:r>
              <a:t>for procurement team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219456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1828800"/>
            <a:ext cx="210312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0175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Who optimised, when,</a:t>
            </a:r>
            <a:br/>
            <a:r>
              <a:t>and for which order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63440" y="219456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0" y="1828800"/>
            <a:ext cx="210312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Pipeline</a:t>
            </a:r>
            <a:br/>
            <a:r>
              <a:t>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30175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Unlocks procurement</a:t>
            </a:r>
            <a:br/>
            <a:r>
              <a:t>module for the order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40880" y="219456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0" y="1828800"/>
            <a:ext cx="210312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Planner</a:t>
            </a:r>
            <a:br/>
            <a:r>
              <a:t>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0175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Board qty visible in</a:t>
            </a:r>
            <a:br/>
            <a:r>
              <a:t>planner workspace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18320" y="219456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06 —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Purchase Order &amp; Material Receiving Tracker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Order Number (dropdown)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PO Raised Date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PO Number (unique)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Vendor Name (dropdown)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Item Details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MRN (Material Received Note) Date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Procurement Status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Remarks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▸  PO Pending — awaiting PO creation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▸  PO Raised — sent to vendor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▸  Partial Material Received — some items arrived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▸  Material Received — all items received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▸  Cancelled — order or PO cancelled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Procurement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From PO to Material Receipt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495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PO</a:t>
            </a:r>
            <a:br/>
            <a:r>
              <a:t>Pending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268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69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PO</a:t>
            </a:r>
            <a:br/>
            <a:r>
              <a:t>Raised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842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43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Partial</a:t>
            </a:r>
            <a:br/>
            <a:r>
              <a:t>Received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416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217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Material</a:t>
            </a:r>
            <a:br/>
            <a:r>
              <a:t>Received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990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791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Ready for</a:t>
            </a:r>
            <a:br/>
            <a:r>
              <a:t>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</a:defRPr>
            </a:pPr>
            <a:r>
              <a:t>✔  Multiple items may be added against one order</a:t>
            </a:r>
            <a:br/>
            <a:r>
              <a:t>✔  PO number uniqueness enforced</a:t>
            </a:r>
            <a:br/>
            <a:r>
              <a:t>✔  Material Received status makes order eligible for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03A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Production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Default Production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7-Station Factory Floor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-807873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Hot</a:t>
            </a:r>
            <a:br/>
            <a:r>
              <a:t>Press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694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495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Cutting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268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069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Edge-</a:t>
            </a:r>
            <a:br/>
            <a:r>
              <a:t>banding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842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643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Drilling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416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17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QC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990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791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Packing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10564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365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Admin can: Add machines  |  Rename  |  Disable  |  Change sequence  |  Insert between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Machine Station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What the Machine User Sees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Order Number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Dealer Name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Customer Name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Order Type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Main Order &amp; Sub Order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Current Station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Previous Station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Next Station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Status Buttons: Completed | Partial | Rejected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Remarks Field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Last Updated Date &amp;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6BD2"/>
                </a:solidFill>
              </a:defRPr>
            </a:pPr>
            <a:r>
              <a:t>Key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Machine user sees ONLY assigned station orders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Cannot update orders from other stations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Completed: order moves to next station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Partial: visible at current AND next station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Rejected: order moves back to previous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First station rejection: admin correction queue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Remarks mandatory for Partial and Rejected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Machine / Station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Admin Configurable Without Developer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2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Add new machine or</a:t>
            </a:r>
            <a:br/>
            <a:r>
              <a:t>station to the 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8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Rename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Rename existing</a:t>
            </a:r>
            <a:br/>
            <a:r>
              <a:t>machine or station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84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7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Disable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Disable station —</a:t>
            </a:r>
            <a:br/>
            <a:r>
              <a:t>removed from new entries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0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Reorder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Change production</a:t>
            </a:r>
            <a:br/>
            <a:r>
              <a:t>sequence order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2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56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Insert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Insert machine between</a:t>
            </a:r>
            <a:br/>
            <a:r>
              <a:t>existing stations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Production Movement —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Order Moves Forward to Next Station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4114800"/>
          </a:xfrm>
          <a:prstGeom prst="roundRect">
            <a:avLst>
              <a:gd name="adj" fmla="val 2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6BD2"/>
                </a:solidFill>
              </a:defRPr>
            </a:pPr>
            <a:r>
              <a:t>When Machine User Marks an Order as COMPLETED: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560320"/>
            <a:ext cx="2286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Cutting</a:t>
            </a:r>
            <a:br/>
            <a:r>
              <a:t>Station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54880" y="2880360"/>
            <a:ext cx="1097280" cy="27432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39" y="2560320"/>
            <a:ext cx="2286000" cy="91440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Edgebanding</a:t>
            </a:r>
            <a:br/>
            <a:r>
              <a:t>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Order DISAPPEARS from current machine login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Order APPEARS at next machine in sequence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If current station is Dispatch: order becomes Fully Completed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Fully completed orders do NOT appear in any machine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Production Movement — Partial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Order Visible at Both Current and Next Station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4114800"/>
          </a:xfrm>
          <a:prstGeom prst="roundRect">
            <a:avLst>
              <a:gd name="adj" fmla="val 2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6BD2"/>
                </a:solidFill>
              </a:defRPr>
            </a:pPr>
            <a:r>
              <a:t>When Machine User Marks an Order as PARTIAL COMPLETED: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60320"/>
            <a:ext cx="2743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Cutting</a:t>
            </a:r>
            <a:br/>
            <a:r>
              <a:t>(VISIBLE)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97680" y="2880360"/>
            <a:ext cx="914400" cy="22860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2560320"/>
            <a:ext cx="2743200" cy="91440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Edgebanding</a:t>
            </a:r>
            <a:br/>
            <a:r>
              <a:t>(VISIBLE)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Order REMAINS visible in current machine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Order ALSO appears in next machine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Remarks are MANDATORY — must explain partial status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Planner shows originating stage as Current Stage until downstream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Production Movement — Rejected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Order Moves Backward to Previous Station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4114800"/>
          </a:xfrm>
          <a:prstGeom prst="roundRect">
            <a:avLst>
              <a:gd name="adj" fmla="val 2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6BD2"/>
                </a:solidFill>
              </a:defRPr>
            </a:pPr>
            <a:r>
              <a:t>When Machine User Marks an Order as REJECTED: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560320"/>
            <a:ext cx="2743200" cy="91440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Edgebanding</a:t>
            </a:r>
            <a:br/>
            <a:r>
              <a:t>Station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2880360"/>
            <a:ext cx="914400" cy="22860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2743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Cutting</a:t>
            </a:r>
            <a:br/>
            <a:r>
              <a:t>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Order DISAPPEARS from current machine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Order MOVES BACK to previous machine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Rejection reason is MANDATORY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First machine rejection: goes to Admin / Data Entry correction queue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  ✔  Planner reapproval required before reintroduction into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07 — Packing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Dedicated Packing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2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Box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Record packed boxes</a:t>
            </a:r>
            <a:br/>
            <a:r>
              <a:t>per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8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Track remaining</a:t>
            </a:r>
            <a:br/>
            <a:r>
              <a:t>balance quantity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84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7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Zero balance =</a:t>
            </a:r>
            <a:br/>
            <a:r>
              <a:t>move to Dispatch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0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Persistent packing</a:t>
            </a:r>
            <a:br/>
            <a:r>
              <a:t>history after dispatch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2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56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No Duplicates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Duplicate-submit</a:t>
            </a:r>
            <a:br/>
            <a:r>
              <a:t>protection 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Packing Operation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From Packing Queue to Dispatch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08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Order</a:t>
            </a:r>
            <a:br/>
            <a:r>
              <a:t>Arrives at</a:t>
            </a:r>
            <a:br/>
            <a:r>
              <a:t>Packing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981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782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Enter</a:t>
            </a:r>
            <a:br/>
            <a:r>
              <a:t>Packed</a:t>
            </a:r>
            <a:br/>
            <a:r>
              <a:t>Boxes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555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56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Enter</a:t>
            </a:r>
            <a:br/>
            <a:r>
              <a:t>Balance</a:t>
            </a:r>
            <a:br/>
            <a:r>
              <a:t>Boxes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129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930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Update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703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04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Balance</a:t>
            </a:r>
            <a:br/>
            <a:r>
              <a:t>Zero?</a:t>
            </a:r>
            <a:br/>
            <a:r>
              <a:t>YES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77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078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Move to</a:t>
            </a:r>
            <a:br/>
            <a:r>
              <a:t>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✔  Packing station accepts both 'Packing' and 'Packed' labels</a:t>
            </a:r>
            <a:br/>
            <a:r>
              <a:t>✔  Completed orders leave active queue but remain in history</a:t>
            </a:r>
            <a:br/>
            <a:r>
              <a:t>✔  History shows packed boxes, balance, station, and action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Packing Station Compatibility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Packing vs Packed — Handled Transparently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447" y="13716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Station Name in Database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Packed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Legacy naming convention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Portal Label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Packing / Packed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Both accepted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 Assignment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packing.user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Assigned to 'Packed' station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Authorization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Role + Station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Server-side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Save Behavior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Submits assigned station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No hardcoded value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Persistent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Visible after dispatch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Duplicate Protection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Prevents double-click saves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08 —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Mandatory Stage After Packing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Order Number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Dealer Name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Customer Name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Order Type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Packing Completed Date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Dispatch Date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Vehicle / Transport Details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Dispatch Remarks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Dispatch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▸  Pending Dispatch — packed, awaiting dispatch action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▸  Partially Dispatched — some items dispatched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▸  Dispatched — fully dispatched, removed from active view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▸  Hold — order held, remarks mandatory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Dispatch — Rules &amp;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Separate Login, Separate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Dispatch user has a separate login and dedicated queue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Dispatch completed order disappears from Dispatch login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Dispatched orders appear ONLY in reports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Partial dispatch remains visible in Dispatch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Dispatch remarks mandatory for Hold or Partially Dispatched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Packed, Dispatch, and Dispatched rows NOT in Planner Priority Desk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Dispatched orders NOT in production planner workspace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Current Stage becomes 'Dispatched' after full 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Production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09 — Production Planner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Separate Page for Planner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3017520" cy="3657600"/>
          </a:xfrm>
          <a:prstGeom prst="roundRect">
            <a:avLst>
              <a:gd name="adj" fmla="val 4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1920240"/>
            <a:ext cx="914400" cy="91440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All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5661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Complete list of all</a:t>
            </a:r>
            <a:br/>
            <a:r>
              <a:t>active planning orders</a:t>
            </a:r>
            <a:br/>
            <a:r>
              <a:t>from confirmed to packing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017520" cy="3657600"/>
          </a:xfrm>
          <a:prstGeom prst="roundRect">
            <a:avLst>
              <a:gd name="adj" fmla="val 4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0" y="1920240"/>
            <a:ext cx="914400" cy="91440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Machine Wise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5661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Orders grouped by</a:t>
            </a:r>
            <a:br/>
            <a:r>
              <a:t>machine/station with</a:t>
            </a:r>
            <a:br/>
            <a:r>
              <a:t>own export per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017520" cy="3657600"/>
          </a:xfrm>
          <a:prstGeom prst="roundRect">
            <a:avLst>
              <a:gd name="adj" fmla="val 4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0" y="1920240"/>
            <a:ext cx="914400" cy="91440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Priority Desk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5661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Priority-focused view</a:t>
            </a:r>
            <a:br/>
            <a:r>
              <a:t>with High/Med/Low</a:t>
            </a:r>
            <a:br/>
            <a:r>
              <a:t>sorting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Planner Visibility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One Current Stage — Consistent Across All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Show active planning orders from Confirmed stage up to Packing stage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Do NOT show Dispatched orders — they are removed from planner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Show only ONE 'Current Stage' per order at all times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Do NOT show 'Visible Stations' as a planner display field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Visible station routing is used internally, NOT as planner stage truth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Partial completion: Current Stage remains originating stage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Packed overrides earlier production stages until dispatch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Dispatched: order exits planner workspace entirely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Planner Workspace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What the Planner Sees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447" y="137160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Order Number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Unique order identifier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Dealer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Dealer name from master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Dropdown-linked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Customer name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Order 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Type from master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Dropdown-linked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Current Stage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One latest valid stage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Auto-calculated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High / Medium / Low / Blank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Editable from 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EDD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Expected Delivery Date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Confirmation 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When order was 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Auto-captured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Panel Qty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Number of panels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From optimisation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Board Qty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Number of boards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From optimisation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Planner Priority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Direct Assignment from Planning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286000" cy="1097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Urgent orders float</a:t>
            </a:r>
            <a:br/>
            <a:r>
              <a:t>above all others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2286000" cy="10972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108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Standard priority</a:t>
            </a:r>
            <a:br/>
            <a:r>
              <a:t>for normal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286000" cy="10972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Lower priority</a:t>
            </a:r>
            <a:br/>
            <a:r>
              <a:t>when capacity allows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828800"/>
            <a:ext cx="2286000" cy="10972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BLANK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108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No priority set</a:t>
            </a:r>
            <a:br/>
            <a:r>
              <a:t>— default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✔ Priority assignable directly from planner tables — not just displayed</a:t>
            </a:r>
            <a:br/>
            <a:r>
              <a:t>✔ High sorts above Medium, Low, and blank during planner sorting</a:t>
            </a:r>
            <a:br/>
            <a:r>
              <a:t>✔ Priority updates captured in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Planner Excel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Filter-Aware, Machine-Specific Exports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2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All Orders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Full planner export</a:t>
            </a:r>
            <a:br/>
            <a:r>
              <a:t>respecting current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8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Machine Wise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Consolidated export</a:t>
            </a:r>
            <a:br/>
            <a:r>
              <a:t>of all machine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84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7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Single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Per-station export</a:t>
            </a:r>
            <a:br/>
            <a:r>
              <a:t>for individual machines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0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Priority Desk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Priority-filtered export</a:t>
            </a:r>
            <a:br/>
            <a:r>
              <a:t>with sorting preserved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2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56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WIP Dated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Auto-named with</a:t>
            </a:r>
            <a:br/>
            <a:r>
              <a:t>current date stamp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Machine Wise Export — Sorting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Confirmation Date Descending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4114800"/>
          </a:xfrm>
          <a:prstGeom prst="roundRect">
            <a:avLst>
              <a:gd name="adj" fmla="val 2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6BD2"/>
                </a:solidFill>
              </a:defRPr>
            </a:pPr>
            <a:r>
              <a:t>Export Behaviour: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Each machine table supports its own independent Excel export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Machine-wise export sorted by Confirmation Date — descending (newest first)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Filters applied in the UI are respected in the export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Export filenames: 'Machine Wise WIP Orders Dated DD-MM-YYYY.csv'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Single machine export: '&lt;Station&gt; WIP Orders Dated DD-MM-YYYY.csv'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Consolidated export: 'WIP Orders Dated DD-MM-YYYY.xlsx'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Reports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10 — Reports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Separate from Data Entry — Comprehensive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1.  Dealer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2.  Quotation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3.  Confirmed Order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4.  Optimisation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5.  Procurement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6.  Production Status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7.  Machine-Wise Pending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8.  Rejected Order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9.  Partial Completed Order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10. Completed Order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11. Dispatch Report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12. Order Lifecycle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Every report supports: Search, Sort, Filter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Date range filter available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Export to Excel-compatible format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Status filter for production states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Dealer filter for dealer-specific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Order type filter for category views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Machine / station filter for floor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Pagination for large result 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Report Filter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Every Report Has Full Search &amp; Filter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624993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30633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87833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87833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Free-text search across</a:t>
            </a:r>
            <a:br/>
            <a:r>
              <a:t>report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Date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8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Filter by creation,</a:t>
            </a:r>
            <a:br/>
            <a:r>
              <a:t>confirmation, or action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47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41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4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Pending, In Progress,</a:t>
            </a:r>
            <a:br/>
            <a:r>
              <a:t>Completed, Rejected, etc.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27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Dealer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Filter by specific</a:t>
            </a:r>
            <a:br/>
            <a:r>
              <a:t>dealer or dealer group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19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13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Order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6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Laminate, Kitchen,</a:t>
            </a:r>
            <a:br/>
            <a:r>
              <a:t>Wardrobe, etc.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5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99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42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42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Filter by production</a:t>
            </a:r>
            <a:br/>
            <a:r>
              <a:t>station or 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Order Lifecycle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Complete Order Journey — Start to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-807873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Quotation</a:t>
            </a:r>
            <a:br/>
            <a:r>
              <a:t>Created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694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495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Order</a:t>
            </a:r>
            <a:br/>
            <a:r>
              <a:t>Confirmed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268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069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Optimised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842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643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Procurement</a:t>
            </a:r>
            <a:br/>
            <a:r>
              <a:t>Done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416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17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Production</a:t>
            </a:r>
            <a:br/>
            <a:r>
              <a:t>Started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990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791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Packing</a:t>
            </a:r>
            <a:br/>
            <a:r>
              <a:t>Complete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10564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5365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Dispatched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Lifecycle shows: every status change, timestamp, user, machine, and remarks</a:t>
            </a:r>
            <a:br/>
            <a:r>
              <a:t>Packed and Dispatched stage changes visible in lifecycle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Production Status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Real-Time Factory Floor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737360" cy="9144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Awaiting action</a:t>
            </a:r>
            <a:br/>
            <a:r>
              <a:t>at current station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828800"/>
            <a:ext cx="1737360" cy="91440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9260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Currently being</a:t>
            </a:r>
            <a:br/>
            <a:r>
              <a:t>worked 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173736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9260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Done at this</a:t>
            </a:r>
            <a:br/>
            <a:r>
              <a:t>station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173736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Partial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260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Partially done,</a:t>
            </a:r>
            <a:br/>
            <a:r>
              <a:t>visible at 2 stations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1737360" cy="914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Sent backward</a:t>
            </a:r>
            <a:br/>
            <a:r>
              <a:t>for correction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828800"/>
            <a:ext cx="173736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Dispatched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9260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Fully shipped</a:t>
            </a:r>
            <a:br/>
            <a:r>
              <a:t>and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Master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11 — Master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Admin-Managed Configuration — No Developer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624993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30633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87833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Dealer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87833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Dealer details,</a:t>
            </a:r>
            <a:br/>
            <a:r>
              <a:t>types, and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Customer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8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EL, ADM, MCB,</a:t>
            </a:r>
            <a:br/>
            <a:r>
              <a:t>BRGWF, and custom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47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41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4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Order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15 production</a:t>
            </a:r>
            <a:br/>
            <a:r>
              <a:t>categories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27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Machine / Station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7 default stations</a:t>
            </a:r>
            <a:br/>
            <a:r>
              <a:t>+ custom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19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13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User Master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6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Users, roles,</a:t>
            </a:r>
            <a:br/>
            <a:r>
              <a:t>and assignments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5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99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42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Vendor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42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Vendor details</a:t>
            </a:r>
            <a:br/>
            <a:r>
              <a:t>and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Customer Type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Fully Admin-Configurable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447" y="137160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Customer Type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EL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Default Type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Default 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MCB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Default Type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BRGWF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Default 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KADIWA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Custom Type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Custom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Add 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Admin adds as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✔ Admin can Add, Edit, Disable, Reorder, or Remove values</a:t>
            </a:r>
            <a:br/>
            <a:r>
              <a:t>✔ Disabled types hidden from new entries but preserved in history</a:t>
            </a:r>
            <a:br/>
            <a:r>
              <a:t>✔ Customer type dropdown in Quotation comes from this 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Order Type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15 Modular Interior Production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01168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Laminate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371600"/>
            <a:ext cx="2011680" cy="10058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Carcase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371600"/>
            <a:ext cx="201168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Membrane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2011680" cy="10058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Veneer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371600"/>
            <a:ext cx="201168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Alu Glass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2011680" cy="10058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Acrylic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01168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651760"/>
            <a:ext cx="2011680" cy="10058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Profile Shutter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651760"/>
            <a:ext cx="201168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Glass Shutter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651760"/>
            <a:ext cx="2011680" cy="10058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Wardrobe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201168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Kitchen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931920"/>
            <a:ext cx="2011680" cy="10058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TV Unit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931920"/>
            <a:ext cx="201168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Full Home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931920"/>
            <a:ext cx="2011680" cy="10058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Loose Furniture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3931920"/>
            <a:ext cx="2011680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Other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✔ Admin can Add, Edit, Disable, Reorder order types</a:t>
            </a:r>
            <a:br/>
            <a:r>
              <a:t>✔ Disabled types hidden from new quotation entries</a:t>
            </a:r>
            <a:br/>
            <a:r>
              <a:t>✔ Future additions require no developer assistance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Machine / Station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7 Default Stations — Fully Configurable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Hot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06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Board pressing</a:t>
            </a:r>
            <a:br/>
            <a:r>
              <a:t>and lamination</a:t>
            </a:r>
          </a:p>
        </p:txBody>
      </p:sp>
      <p:sp>
        <p:nvSpPr>
          <p:cNvPr id="9" name="Oval 8"/>
          <p:cNvSpPr/>
          <p:nvPr/>
        </p:nvSpPr>
        <p:spPr>
          <a:xfrm>
            <a:off x="2468880" y="13716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Cutting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606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Board cutting</a:t>
            </a:r>
            <a:br/>
            <a:r>
              <a:t>to size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13716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Edgebanding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Edge banding</a:t>
            </a:r>
            <a:br/>
            <a:r>
              <a:t>application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13716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Drilling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606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Hole drilling</a:t>
            </a:r>
            <a:br/>
            <a:r>
              <a:t>for assembly</a:t>
            </a:r>
          </a:p>
        </p:txBody>
      </p:sp>
      <p:sp>
        <p:nvSpPr>
          <p:cNvPr id="18" name="Oval 17"/>
          <p:cNvSpPr/>
          <p:nvPr/>
        </p:nvSpPr>
        <p:spPr>
          <a:xfrm>
            <a:off x="7543800" y="13716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QC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06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Quality check</a:t>
            </a:r>
            <a:br/>
            <a:r>
              <a:t>and inspection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9235440" y="13716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606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Box packing</a:t>
            </a:r>
            <a:br/>
            <a:r>
              <a:t>and counting</a:t>
            </a:r>
          </a:p>
        </p:txBody>
      </p:sp>
      <p:sp>
        <p:nvSpPr>
          <p:cNvPr id="24" name="Oval 23"/>
          <p:cNvSpPr/>
          <p:nvPr/>
        </p:nvSpPr>
        <p:spPr>
          <a:xfrm>
            <a:off x="10927080" y="13716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Dispatch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606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Final dispatch</a:t>
            </a:r>
            <a:br/>
            <a:r>
              <a:t>to 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User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Role-Based User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User Name (display name)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Login ID (unique identifier)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Password (hashed)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Role (Admin, Data Entry, Machine, etc.)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Assigned Machine / Station (for Machine Users)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Active / Inactive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Disabled users cannot login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Machine users are linked to specific station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Admin can create, edit, and deactivate users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Role determines accessible modules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Station assignment enforced server-side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Password reset available through Admin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Vendor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Procurement Vendor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Vendor Name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Contact Person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Material Category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Remarks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t>•  •  Active / Inactive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✔  Vendor dropdown in Procurement comes from this master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✔  Inactive vendors hidden from new entries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✔  Admin can add, edit, and manage vendors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✔  Material category links to procurement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 12 —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Every Important Action Logged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Created by (user ID)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Created date and time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Updated by (user ID)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Updated date and time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Previous status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New status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Remarks / reason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Machine or station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•  User login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Order lifecycle report shows full history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Planner priority updates captured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Packed and Dispatched transitions logged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Rejection reasons preserved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Machine user actions with timestamps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Admin corrections fully traceable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Visible station routing does NOT override stage history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History grouped to one latest row per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Audit Trail — What Gets Captured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447" y="1371600"/>
          <a:ext cx="109728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297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Captured Data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Visible In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Dealer Created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timestamp, dealer data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Dealer Report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Quotation Saved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timestamp, all fields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Quotation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Order Confirmed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date, remarks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Lifecycle Report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Optimisation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boards, RM details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Optimisation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 Raised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PO#, vendor, items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Procurement Report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Machine 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station, 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Production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Partial Completed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station, remarks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Production Report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Rejected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station, reason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Rejected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Packed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boxes, balance, date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Packing History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Dispatched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date, transport, remarks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Dispatch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Priority Changed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old/new priority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Planner Audit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Customer Type Changed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User, old/new 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Master Audit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Technology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Simple, Reliable, Proven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2004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BROWSER</a:t>
            </a:r>
            <a:br/>
            <a:r>
              <a:t>HTML / CSS / JavaScript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89120" y="2286000"/>
            <a:ext cx="731520" cy="274320"/>
          </a:xfrm>
          <a:prstGeom prst="rightArrow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1828800"/>
            <a:ext cx="3200400" cy="137160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ASP.NET 4.8</a:t>
            </a:r>
            <a:br/>
            <a:r>
              <a:t>C# api.ashx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78240" y="2286000"/>
            <a:ext cx="731520" cy="274320"/>
          </a:xfrm>
          <a:prstGeom prst="rightArrow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0" y="18288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Access</a:t>
            </a:r>
            <a:br/>
            <a:r>
              <a:t>.accdb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Static pages served by IIS</a:t>
            </a:r>
            <a:br/>
            <a:r>
              <a:t>Session-based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Action-based JSON API</a:t>
            </a:r>
            <a:br/>
            <a:r>
              <a:t>Role + Station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OleDb connection</a:t>
            </a:r>
            <a:br/>
            <a:r>
              <a:t>File-based persistence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2062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3434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HTML/CSS/JS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40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Plain frontend,</a:t>
            </a:r>
            <a:br/>
            <a:r>
              <a:t>no framework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42062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37560" y="43434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5074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C# ASP.NET 4.8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5440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Server-side logic,</a:t>
            </a:r>
            <a:br/>
            <a:r>
              <a:t>authorization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42062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0" y="43434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074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Microsoft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440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Lightweight DB,</a:t>
            </a:r>
            <a:br/>
            <a:r>
              <a:t>no server install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2062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01000" y="43434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5074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FTP 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440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Simple deployment,</a:t>
            </a:r>
            <a:br/>
            <a:r>
              <a:t>no CI/CD needed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42062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2720" y="4343400"/>
            <a:ext cx="640080" cy="64008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5074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Session 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5440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Cookie-based,</a:t>
            </a:r>
            <a:br/>
            <a:r>
              <a:t>server-enforced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This Technology Stack?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475488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6BD2"/>
                </a:solidFill>
              </a:defRPr>
            </a:pPr>
            <a:r>
              <a:t>Business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No monthly SaaS fees — own the system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No internet dependency for core operations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Familiar Microsoft ecosystem for IT teams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Simple deployment — FTP upload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Database file is portable and backupable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No vendor lock-in — full source ownership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6BD2"/>
                </a:solidFill>
              </a:defRPr>
            </a:pPr>
            <a:r>
              <a:t>Technical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Proven ASP.NET Framework 4.8 stability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Lightweight OleDb — no database server needed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Plain HTML/CSS/JS — no build pipeline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Session-based auth — server-enforced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File-based database — easy backup/restore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•  IIS-compatible shared hosting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API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Action-Based JSON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447" y="1371600"/>
          <a:ext cx="109728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9436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session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Check current session state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login-init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Get login page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login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Authenticate user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logout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End session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app-state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Full application state after login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history-state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Order history for current 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save-dealer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Create or update dealer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save-quotation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Create or update quotation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confirm-order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Mark order as confirmed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save-optimisation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Record board optimisation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save-procurement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Record PO and material receipt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update-production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Machine status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save-packing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Record packing counts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save-dispatch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Record dispatch details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save-priority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Update planner priority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Server-Side Authorization on Every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624993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30633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87833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Session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87833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Cookie-based session</a:t>
            </a:r>
            <a:br/>
            <a:r>
              <a:t>with user ID reload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5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Role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8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Every endpoint verifies</a:t>
            </a:r>
            <a:br/>
            <a:r>
              <a:t>user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47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41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4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Station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Machine users validated</a:t>
            </a:r>
            <a:br/>
            <a:r>
              <a:t>against assigned station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27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Parameterized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OleDb commands use</a:t>
            </a:r>
            <a:br/>
            <a:r>
              <a:t>parameterized queries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19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13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Password 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6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Passwords stored</a:t>
            </a:r>
            <a:br/>
            <a:r>
              <a:t>as hashes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5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99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42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42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Every action logged</a:t>
            </a:r>
            <a:br/>
            <a:r>
              <a:t>with user and timestamp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Value Proposition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Return on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Measurable Efficiency Gains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737360" cy="11887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60%+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Faster Data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Searchable dropdowns</a:t>
            </a:r>
            <a:br/>
            <a:r>
              <a:t>eliminate manual typing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63040"/>
            <a:ext cx="1737360" cy="11887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Order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004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Every order tracked</a:t>
            </a:r>
            <a:br/>
            <a:r>
              <a:t>from quote to dispatch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463040"/>
            <a:ext cx="1737360" cy="11887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Lost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2004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Complete lifecycle</a:t>
            </a:r>
            <a:br/>
            <a:r>
              <a:t>with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1737360" cy="11887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Fewer Phone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004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Planner sees all</a:t>
            </a:r>
            <a:br/>
            <a:r>
              <a:t>status in real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63040"/>
            <a:ext cx="1737360" cy="11887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Machine 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004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Each station has</a:t>
            </a:r>
            <a:br/>
            <a:r>
              <a:t>its own queue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463040"/>
            <a:ext cx="1737360" cy="11887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Dispatch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2004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Packing + dispatch</a:t>
            </a:r>
            <a:br/>
            <a:r>
              <a:t>portal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Cost Comparison — Elenza PMS vs Alternatives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6567" y="1371600"/>
          <a:ext cx="113385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  <a:gridCol w="301752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Elenza PMS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 ERP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 SaaS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Upfront Cost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One-time development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High licensing fees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Monthly recurring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Hosting only (~$5-15)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$50-500+/month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$100-1000+/month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Customization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Full source ownership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Limited customization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Vendor-dependent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Data Ownership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Your server, your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Vendor-controlled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Cloud-locked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Internet Required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No (local network)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Usually yes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Always yes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IT Team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Minimal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Dedicated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Vendor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Production Focus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Built for factory floor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General purpose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Generic workflows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Factory-Floor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Yes — table-first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Dashboard-heavy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Source Code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100% yours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Long-Term TCO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Lowest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Highest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Medium-High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Why Modular Interior Factories Choose Elenza PMS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✔  Purpose-built for modular interiors — not a generic tool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✔  Machine-wise tracking with station-level login — unique in the market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✔  Partial completion logic handles real factory scenarios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✔  Rejection routing with mandatory reason — traceable corrections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✔  Packing and Dispatch as separate operational portals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✔  Planner workspace with priority, machine grouping, and Excel export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✔  One current stage — no confusion about order status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✔  Admin manages everything without developer help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✔  No monthly fees — own the system forever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•  ✔  Runs on basic Windows hosting — no expensive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Business Benefits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What You Get with Elenza PMS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737360" cy="11887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Faster</a:t>
            </a:r>
            <a:br/>
            <a:r>
              <a:t>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60%+ faster data entry</a:t>
            </a:r>
            <a:br/>
            <a:r>
              <a:t>with searchable dropdowns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463040"/>
            <a:ext cx="1737360" cy="11887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Full</a:t>
            </a:r>
            <a:br/>
            <a:r>
              <a:t>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Know exactly where</a:t>
            </a:r>
            <a:br/>
            <a:r>
              <a:t>every order 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63040"/>
            <a:ext cx="1737360" cy="11887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Better</a:t>
            </a:r>
            <a:br/>
            <a:r>
              <a:t>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Reports with search,</a:t>
            </a:r>
            <a:br/>
            <a:r>
              <a:t>filter, and Excel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1737360" cy="11887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Reduced</a:t>
            </a:r>
            <a:br/>
            <a:r>
              <a:t>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Role-based access</a:t>
            </a:r>
            <a:br/>
            <a:r>
              <a:t>prevents unauthorized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1737360" cy="11887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Complete</a:t>
            </a:r>
            <a:br/>
            <a: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Every action logged</a:t>
            </a:r>
            <a:br/>
            <a:r>
              <a:t>with user and timestamp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1463040"/>
            <a:ext cx="1737360" cy="11887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Scalable</a:t>
            </a:r>
            <a:br/>
            <a:r>
              <a:t>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Add machines, users,</a:t>
            </a:r>
            <a:br/>
            <a:r>
              <a:t>stations without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Production Flow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Complete Order Status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From Quotation to Dispatched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-2865273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Quotation</a:t>
            </a:r>
            <a:br/>
            <a:r>
              <a:t>Created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-1287933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-807873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Confirmed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94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495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Optimised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268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069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Procurement</a:t>
            </a:r>
            <a:br/>
            <a:r>
              <a:t>Started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842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643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Material</a:t>
            </a:r>
            <a:br/>
            <a:r>
              <a:t>Received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416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217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Production</a:t>
            </a:r>
            <a:br/>
            <a:r>
              <a:t>Started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990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791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Hot Press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564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5365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Cutting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31138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5939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Edgebanding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49527" y="4572000"/>
            <a:ext cx="1463040" cy="82296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Drilling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826867" y="5166360"/>
            <a:ext cx="365760" cy="18288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06927" y="4572000"/>
            <a:ext cx="1463040" cy="82296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QC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884267" y="5166360"/>
            <a:ext cx="365760" cy="18288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64327" y="4572000"/>
            <a:ext cx="1463040" cy="82296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Packing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941667" y="5166360"/>
            <a:ext cx="365760" cy="18288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21727" y="4572000"/>
            <a:ext cx="1463040" cy="82296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Dispatch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999067" y="5166360"/>
            <a:ext cx="365760" cy="18288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79127" y="4572000"/>
            <a:ext cx="1463040" cy="82296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Fully</a:t>
            </a:r>
            <a:br/>
            <a:r>
              <a:t>Completed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Production Status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All Possible Order States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2011680" cy="73152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Awaiting action</a:t>
            </a:r>
            <a:br/>
            <a:r>
              <a:t>at current station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371600"/>
            <a:ext cx="2011680" cy="7315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Currently being</a:t>
            </a:r>
            <a:br/>
            <a:r>
              <a:t>worked 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371600"/>
            <a:ext cx="201168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Done, moved</a:t>
            </a:r>
            <a:br/>
            <a:r>
              <a:t>to next station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71600"/>
            <a:ext cx="2011680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Partial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Partially done,</a:t>
            </a:r>
            <a:br/>
            <a:r>
              <a:t>2 stations visible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1371600"/>
            <a:ext cx="201168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Sent backward</a:t>
            </a:r>
            <a:br/>
            <a:r>
              <a:t>for correction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749040"/>
            <a:ext cx="20116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Production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72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All stations done,</a:t>
            </a:r>
            <a:br/>
            <a:r>
              <a:t>ready for packing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749040"/>
            <a:ext cx="2011680" cy="73152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Pending 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572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Packed, awaiting</a:t>
            </a:r>
            <a:br/>
            <a:r>
              <a:t>dispatch 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749040"/>
            <a:ext cx="2011680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Partially Dispatched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572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Some items</a:t>
            </a:r>
            <a:br/>
            <a:r>
              <a:t>dispatched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749040"/>
            <a:ext cx="201168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Dispatched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572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Fully shipped</a:t>
            </a:r>
            <a:br/>
            <a:r>
              <a:t>and closed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3749040"/>
            <a:ext cx="201168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572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Order held,</a:t>
            </a:r>
            <a:br/>
            <a:r>
              <a:t>remarks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Production Sequence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Admin Manages Without Developer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2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Add New Station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Insert new machine or</a:t>
            </a:r>
            <a:br/>
            <a:r>
              <a:t>process step into 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8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Rename Station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Update station names</a:t>
            </a:r>
            <a:br/>
            <a:r>
              <a:t>to match factory floor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84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7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Disable Station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Remove from active</a:t>
            </a:r>
            <a:br/>
            <a:r>
              <a:t>sequence while preserving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0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Reorder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Drag-and-drop or</a:t>
            </a:r>
            <a:br/>
            <a:r>
              <a:t>numeric reordering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2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56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Insert Between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Place new station</a:t>
            </a:r>
            <a:br/>
            <a:r>
              <a:t>between existing 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⚠  Sequence changes do NOT break old records — historical data preserved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Planner Movement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Assign, Resequence, Reapprove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2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Assign to Station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Move order to specific</a:t>
            </a:r>
            <a:br/>
            <a:r>
              <a:t>machine in 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8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Resequence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Change station order</a:t>
            </a:r>
            <a:br/>
            <a:r>
              <a:t>for specific 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84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7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Reapprove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After rejection, planner</a:t>
            </a:r>
            <a:br/>
            <a:r>
              <a:t>reintroduces to 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0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Set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High, Medium, Low,</a:t>
            </a:r>
            <a:br/>
            <a:r>
              <a:t>or blank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2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56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View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Full lifecycle from</a:t>
            </a:r>
            <a:br/>
            <a:r>
              <a:t>planner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Simple, Reliable, Maintainable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4754880"/>
          </a:xfrm>
          <a:prstGeom prst="roundRect">
            <a:avLst>
              <a:gd name="adj" fmla="val 2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32720" cy="7315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IIS / ASP.NET 4.8 Hosting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332720" cy="73152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Windows Server / Shared Hosting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1033272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Microsoft Access Database (App_Data)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10332720" cy="73152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FTP Deployment (Passive Binary)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03520"/>
            <a:ext cx="10332720" cy="7315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Backup &amp; Rollback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Deployment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Verified Upload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08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Read Back</a:t>
            </a:r>
            <a:br/>
            <a:r>
              <a:t>Live File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981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782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Create</a:t>
            </a:r>
            <a:br/>
            <a:r>
              <a:t>Local Backup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555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56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Patch</a:t>
            </a:r>
            <a:br/>
            <a:r>
              <a:t>Verified Copy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129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930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Upload</a:t>
            </a:r>
            <a:br/>
            <a:r>
              <a:t>via FTP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703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04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Compare</a:t>
            </a:r>
            <a:br/>
            <a:r>
              <a:t>SHA-256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77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078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Verify</a:t>
            </a:r>
            <a:br/>
            <a:r>
              <a:t>HTTP 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✔  Every live file backed up before modification</a:t>
            </a:r>
            <a:br/>
            <a:r>
              <a:t>✔  SHA-256 hash verified after upload</a:t>
            </a:r>
            <a:br/>
            <a:r>
              <a:t>✔  Public endpoint tested for HTTP 200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Rollback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Snapshot System for Safe Live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2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Create timestamped backup</a:t>
            </a:r>
            <a:br/>
            <a:r>
              <a:t>before any live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8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Revert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Restore any snapshot</a:t>
            </a:r>
            <a:br/>
            <a:r>
              <a:t>with one command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84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7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Deploy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Full history of uploads</a:t>
            </a:r>
            <a:br/>
            <a:r>
              <a:t>and reverts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0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Offline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App goes briefly offline</a:t>
            </a:r>
            <a:br/>
            <a:r>
              <a:t>during revert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2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56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Auto Cleanup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Keep two newest</a:t>
            </a:r>
            <a:br/>
            <a:r>
              <a:t>relevant backup 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Implementation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Implementation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Structured Rollout for Factory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743200" cy="6400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2743200" cy="548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93B"/>
                </a:solidFill>
              </a:defRPr>
            </a:pPr>
            <a:r>
              <a:t>Core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Login, Dealers, Quotations,</a:t>
            </a:r>
            <a:br/>
            <a:r>
              <a:t>Orders, Basic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63040"/>
            <a:ext cx="2743200" cy="64008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194560"/>
            <a:ext cx="2743200" cy="548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93B"/>
                </a:solidFill>
              </a:defRPr>
            </a:pPr>
            <a:r>
              <a:t>Production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Machine Tracking, Packing,</a:t>
            </a:r>
            <a:br/>
            <a:r>
              <a:t>Dispatch, Sequence Config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743200" cy="64008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2743200" cy="548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93B"/>
                </a:solidFill>
              </a:defRPr>
            </a:pPr>
            <a:r>
              <a:t>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Planner Workspace, Priority,</a:t>
            </a:r>
            <a:br/>
            <a:r>
              <a:t>Machine Wise, Excel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274320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194560"/>
            <a:ext cx="2743200" cy="548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93B"/>
                </a:solidFill>
              </a:defRPr>
            </a:pPr>
            <a:r>
              <a:t>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All Reports, Filters, Export,</a:t>
            </a:r>
            <a:br/>
            <a:r>
              <a:t>Lifecycle,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✔  Each phase is independently deployable</a:t>
            </a:r>
            <a:br/>
            <a:r>
              <a:t>✔  Phase 1+2 covers daily factory operations</a:t>
            </a:r>
            <a:br/>
            <a:r>
              <a:t>✔  Phase 3 adds planning intelligence</a:t>
            </a:r>
            <a:br/>
            <a:r>
              <a:t>✔  Phase 4 completes reporting and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Estimated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Factory Operational in Weeks, Not Months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1737360" cy="5486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Week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Core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Login, dealers,</a:t>
            </a:r>
            <a:br/>
            <a:r>
              <a:t>quotations,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463040"/>
            <a:ext cx="1737360" cy="5486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Week 3-4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Machine tracking,</a:t>
            </a:r>
            <a:br/>
            <a:r>
              <a:t>sequence, basic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463040"/>
            <a:ext cx="1737360" cy="5486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Week 5-6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Packing &amp; Dispatch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Packing portal,</a:t>
            </a:r>
            <a:br/>
            <a:r>
              <a:t>dispatch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463040"/>
            <a:ext cx="1737360" cy="5486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Week 7-8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Planner workspace,</a:t>
            </a:r>
            <a:br/>
            <a:r>
              <a:t>priority, exports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463040"/>
            <a:ext cx="1737360" cy="5486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Week 9-10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Reports &amp;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All reports,</a:t>
            </a:r>
            <a:br/>
            <a:r>
              <a:t>lifecycle, audit trail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463040"/>
            <a:ext cx="1737360" cy="5486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Week 11-12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Training &amp; Go-Live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User training,</a:t>
            </a:r>
            <a:br/>
            <a:r>
              <a:t>data migration, go-live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 Migration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Existing Data Preserved and Imported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08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Export</a:t>
            </a:r>
            <a:br/>
            <a:r>
              <a:t>Existing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981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782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Map to</a:t>
            </a:r>
            <a:br/>
            <a:r>
              <a:t>New Schema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555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56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Import</a:t>
            </a:r>
            <a:br/>
            <a:r>
              <a:t>Dealers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129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93027" y="2560320"/>
            <a:ext cx="1463040" cy="14630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Import</a:t>
            </a:r>
            <a:br/>
            <a:r>
              <a:t>Orders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703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0427" y="2560320"/>
            <a:ext cx="1463040" cy="146304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Import</a:t>
            </a:r>
            <a:br/>
            <a:r>
              <a:t>Users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7767" y="3154680"/>
            <a:ext cx="365760" cy="228600"/>
          </a:xfrm>
          <a:prstGeom prst="rightArrow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07827" y="2560320"/>
            <a:ext cx="14630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Verify</a:t>
            </a:r>
            <a:br/>
            <a:r>
              <a:t>All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✔  Existing dealer, order, and user data can be imported</a:t>
            </a:r>
            <a:br/>
            <a:r>
              <a:t>✔  Master values (customer type, order type) pre-configured</a:t>
            </a:r>
            <a:br/>
            <a:r>
              <a:t>✔  Historical records preserved in new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Go-Live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Prepared for Production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All modules tested with real factory scenarios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User accounts created with correct roles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Machine stations configured in correct sequence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Customer types and order types loaded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Existing dealer data imported and verified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Production planner configured with active orders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Reports tested with sample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Audit trail verified for all operations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User training completed for all roles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Backup system tested and verified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Rollback procedure documented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Admin trained on master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Support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Post-Deployment Assistance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2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Technical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Bug fixes and</a:t>
            </a:r>
            <a:br/>
            <a:r>
              <a:t>issue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8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Master setup,</a:t>
            </a:r>
            <a:br/>
            <a:r>
              <a:t>sequence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84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7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Feature additions</a:t>
            </a:r>
            <a:br/>
            <a:r>
              <a:t>as needed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0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New user training</a:t>
            </a:r>
            <a:br/>
            <a:r>
              <a:t>and documentation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2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56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Performance and</a:t>
            </a:r>
            <a:br/>
            <a:r>
              <a:t>usage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User Roles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Admin / Super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Complete System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Manage all users (create, edit, activate/deactivate)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Manage all dealers (add, edit, change customer type)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Manage all dropdown masters (customer type, order type)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Manage machine / station master and production sequence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Manage vendor master for procurement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View and edit all orders at any stage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View all reports across all modules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Correct wrongly updated statuses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Access full audit trail for any order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Override machine station assignments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✔  Change production sequence without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 Entry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Front-Line Order Entry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Add and manage dealer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Create quotation entries with all fields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Confirm orders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Add optimisation details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Add procurement details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View relevant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C2626"/>
                </a:solidFill>
              </a:defRPr>
            </a:pPr>
            <a:r>
              <a:t>  ✖  Cannot manage users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C2626"/>
                </a:solidFill>
              </a:defRPr>
            </a:pPr>
            <a:r>
              <a:t>  ✖  Cannot change machine sequence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C2626"/>
                </a:solidFill>
              </a:defRPr>
            </a:pPr>
            <a:r>
              <a:t>  ✖  Cannot access planner workspace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C2626"/>
                </a:solidFill>
              </a:defRPr>
            </a:pPr>
            <a:r>
              <a:t>  ✖  Cannot modify master settings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C2626"/>
                </a:solidFill>
              </a:defRPr>
            </a:pPr>
            <a:r>
              <a:t>  ✖  Cannot update machine station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Machine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Station-Specific Production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See only orders assigned to their station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Mark orders as Completed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Mark orders as Partial Completed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Mark orders as Rejected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Add remarks for each action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6A34A"/>
                </a:solidFill>
              </a:defRPr>
            </a:pPr>
            <a:r>
              <a:t>  ✔  View date and time of last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C2626"/>
                </a:solidFill>
              </a:defRPr>
            </a:pPr>
            <a:r>
              <a:t>  ✖  Cannot edit dealer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C2626"/>
                </a:solidFill>
              </a:defRPr>
            </a:pPr>
            <a:r>
              <a:t>  ✖  Cannot edit quotation details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C2626"/>
                </a:solidFill>
              </a:defRPr>
            </a:pPr>
            <a:r>
              <a:t>  ✖  Cannot modify procurement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C2626"/>
                </a:solidFill>
              </a:defRPr>
            </a:pPr>
            <a:r>
              <a:t>  ✖  Cannot access other station orders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C2626"/>
                </a:solidFill>
              </a:defRPr>
            </a:pPr>
            <a:r>
              <a:t>  ✖  Cannot change production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Production Planner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Planning Intelligence &amp; Priority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Open separate planner workspace page after login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View all active planning orders (Confirmed to Packing)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View machine-wise grouped planning tables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Assign priority: High, Medium, Low, or blank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View current stage for every active order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Export each planner table to Excel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Export machine-wise data sorted by confirmation date descending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Open order history from planner context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Cannot treat one order as having more than one current stage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Cannot access data entry or master editing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Microsoft Access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19 Core Tables — Complete Data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447" y="1371600"/>
          <a:ext cx="10972800" cy="822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46B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tbl_users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User accounts, roles, and station assignments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tbl_roles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Role definitions and 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tbl_dealers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Dealer profiles and contact details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tbl_quotations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Quotation and enquiry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tbl_orders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Confirmed orders with customer and type data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tbl_order_confirmations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Order confirmation events and 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tbl_optimisation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Board optimisation and raw material details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Purchase order and material receipt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tbl_procurement_items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Individual items against procurement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tbl_vendors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Vendor master for 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tbl_order_types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Order type master values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tbl_customer_types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Customer type master 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tbl_machines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Machine and station master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tbl_machine_sequence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Production sequence ordering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tbl_production_tracking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Current production status per order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tbl_production_history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Historical production movements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tbl_dispatch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Dispatch details and status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tbl_audit_logs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Complete audit trail for all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tbl_dropdown_masters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Configurable dropdown values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Database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Key Table Connections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tbl_quotations.dealer_id  -&gt;  tbl_dealers.dealer_id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tbl_orders.quotation_id  -&gt;  tbl_quotations.quotation_id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tbl_order_confirmations.order_id  -&gt;  tbl_orders.order_id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tbl_optimisation.order_id  -&gt;  tbl_orders.order_id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tbl_procurement.order_id  -&gt;  tbl_orders.order_id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tbl_procurement_items.procurement_id  -&gt;  tbl_procurement.procurement_id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tbl_production_tracking.order_id  -&gt;  tbl_orders.order_id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tbl_production_tracking.station_id  -&gt;  tbl_machines.machine_id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tbl_production_history.order_id  -&gt;  tbl_orders.order_id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tbl_dispatch.order_id  -&gt;  tbl_orders.order_id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tbl_audit_logs.order_id  -&gt;  tbl_orders.order_id (when applicable)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  •  tbl_machine_sequence.machine_id  -&gt;  tbl_machines.machine_id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5603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463040" cy="1463040"/>
          </a:xfrm>
          <a:prstGeom prst="ellipse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BEAFE"/>
                </a:solidFill>
              </a:defRPr>
            </a:pPr>
            <a: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Planned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Continuous Improvement Based on Factory Needs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4053993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3459633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916833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Production Batches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916833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Group multiple orders</a:t>
            </a:r>
            <a:br/>
            <a:r>
              <a:t>for batch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1767993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173633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630833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QR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630833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Print QR labels for</a:t>
            </a:r>
            <a:br/>
            <a:r>
              <a:t>order and batch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2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Barcode Scanning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Scan QR/barcodes at</a:t>
            </a:r>
            <a:br/>
            <a:r>
              <a:t>machine stations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4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98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1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Inventory 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1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Track material costs</a:t>
            </a:r>
            <a:br/>
            <a:r>
              <a:t>and inventory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90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84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7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Accounting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7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Connect with existing</a:t>
            </a:r>
            <a:br/>
            <a:r>
              <a:t>accounting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6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70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3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Mobile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3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Native mobile for</a:t>
            </a:r>
            <a:br/>
            <a:r>
              <a:t>machine operators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2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56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9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WhatsApp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9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Order status updates</a:t>
            </a:r>
            <a:br/>
            <a:r>
              <a:t>via WhatsApp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948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542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85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Customer Portal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85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Dealer self-service</a:t>
            </a:r>
            <a:br/>
            <a:r>
              <a:t>order tracking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234007" y="137160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4828367" y="164592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71167" y="2651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Advanced 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371167" y="30632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</a:defRPr>
            </a:pPr>
            <a:r>
              <a:t>Business intelligence</a:t>
            </a:r>
            <a:br/>
            <a:r>
              <a:t>dashboards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Roadmap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Phased Enhancement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56032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Core PMS operational</a:t>
            </a:r>
            <a:br/>
            <a:r>
              <a:t>with planner, packing,</a:t>
            </a:r>
            <a:br/>
            <a:r>
              <a:t>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560320" cy="73152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60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Source consolidation,</a:t>
            </a:r>
            <a:br/>
            <a:r>
              <a:t>automated tests,</a:t>
            </a:r>
            <a:br/>
            <a:r>
              <a:t>security hardening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560320" cy="731520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Q4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560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Production batches,</a:t>
            </a:r>
            <a:br/>
            <a:r>
              <a:t>QR labels,</a:t>
            </a:r>
            <a:br/>
            <a:r>
              <a:t>barcode scanning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645920"/>
            <a:ext cx="256032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560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Mobile app,</a:t>
            </a:r>
            <a:br/>
            <a:r>
              <a:t>WhatsApp integration,</a:t>
            </a:r>
            <a:br/>
            <a:r>
              <a:t>customer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Elenza PMS — Complete Production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13 core modules covering quotation to dispatch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Machine-wise production tracking with station login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Partial completion and rejection handling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Dedicated Packing and Dispatch portals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Production Planner with priority and machine grouping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12+ reports with search, filter, and Excel export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Complete audit trail for every action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Admin-managed masters, sequences, and users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Role-based access enforced server-side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Simple, proven technology stack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One-time investment — no monthly fees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  ✔  Built specifically for modular interior B2B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</a:defRPr>
            </a:pPr>
            <a:r>
              <a:t>How to Get Started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005840"/>
            <a:ext cx="12191695" cy="36576"/>
          </a:xfrm>
          <a:prstGeom prst="roundRect">
            <a:avLst/>
          </a:prstGeom>
          <a:solidFill>
            <a:srgbClr val="04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37160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Discovery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Discuss your factory</a:t>
            </a:r>
            <a:br/>
            <a:r>
              <a:t>operations and needs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137160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Map your specific</a:t>
            </a:r>
            <a:br/>
            <a:r>
              <a:t>workflows to modules</a:t>
            </a:r>
          </a:p>
        </p:txBody>
      </p:sp>
      <p:sp>
        <p:nvSpPr>
          <p:cNvPr id="12" name="Oval 11"/>
          <p:cNvSpPr/>
          <p:nvPr/>
        </p:nvSpPr>
        <p:spPr>
          <a:xfrm>
            <a:off x="4800600" y="137160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Set up users, machines,</a:t>
            </a:r>
            <a:br/>
            <a:r>
              <a:t>sequences, masters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137160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Data 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Import existing dealers,</a:t>
            </a:r>
            <a:br/>
            <a:r>
              <a:t>orders, and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137160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Role-based training</a:t>
            </a:r>
            <a:br/>
            <a:r>
              <a:t>for all user types</a:t>
            </a:r>
          </a:p>
        </p:txBody>
      </p:sp>
      <p:sp>
        <p:nvSpPr>
          <p:cNvPr id="21" name="Oval 20"/>
          <p:cNvSpPr/>
          <p:nvPr/>
        </p:nvSpPr>
        <p:spPr>
          <a:xfrm>
            <a:off x="10561320" y="1371600"/>
            <a:ext cx="822960" cy="822960"/>
          </a:xfrm>
          <a:prstGeom prst="ellipse">
            <a:avLst/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Go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Deploy and start</a:t>
            </a:r>
            <a:br/>
            <a:r>
              <a:t>using the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br/>
            <a:pPr algn="ctr">
              <a:defRPr sz="1800" b="1">
                <a:solidFill>
                  <a:srgbClr val="1E293B"/>
                </a:solidFill>
              </a:defRPr>
            </a:pPr>
            <a:r>
              <a:t>Let's discuss how Elenza PMS can transform</a:t>
            </a:r>
            <a:br/>
            <a:r>
              <a:t>your modular interior factory operations.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ElenzaIndia.com  |  Production Management System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>
              <a:gd name="adj" fmla="val 2000"/>
            </a:avLst>
          </a:prstGeom>
          <a:solidFill>
            <a:srgbClr val="046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834640"/>
            <a:ext cx="3017520" cy="36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BEAFE"/>
                </a:solidFill>
              </a:defRPr>
            </a:pPr>
            <a:r>
              <a:t>ElenzaIndia.com Production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Questions?  Let's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BEAFE"/>
                </a:solidFill>
              </a:defRPr>
            </a:pPr>
            <a:r>
              <a:t>www.elenzaindia.com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Built with Purpose  |  Designed for Factory Floors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